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512" y="2520255"/>
            <a:ext cx="322897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25453" y="3025080"/>
            <a:ext cx="8741092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>
                <a:solidFill>
                  <a:srgbClr val="0F172A"/>
                </a:solidFill>
                <a:latin typeface="Poppins"/>
              </a:rPr>
              <a:t>Google Play App 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3785145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Leveraging Tableau Dashboard Storytelling across 10,800+ Android Apps to Optimize Development, Conversion, and Revenue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70634" y="2919412"/>
            <a:ext cx="5850731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An end-to-end Tableau data pipeline analyzing category dynamics, pricing thresholds, app size elasticity, and user rating sentiment.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0825"/>
            <a:ext cx="4419600" cy="2038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81350"/>
            <a:ext cx="3829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1D4ED8"/>
                </a:solidFill>
                <a:latin typeface="Poppins"/>
              </a:rPr>
              <a:t>10.8K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1005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Lato"/>
              </a:rPr>
              <a:t>Analyzed App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2957512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Freemium Velocity Driven by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233737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Tableau aggregation reveals that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92.6% of apps on Google Play are Free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accounting for over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98.4% of total download volume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3890962"/>
            <a:ext cx="615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Paid upfront downloads face high user friction. Sustainable app monetization depends on freemium subscriptions, dynamic microtransactions, and ad placements.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Market Landscape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Tableau Prep Cleaning: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Standardized install bins (</a:t>
            </a:r>
            <a:r>
              <a:rPr sz="1350" b="0" i="0" u="none">
                <a:solidFill>
                  <a:srgbClr val="1D4ED8"/>
                </a:solidFill>
                <a:latin typeface="Lato"/>
              </a:rPr>
              <a:t>10K+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to </a:t>
            </a:r>
            <a:r>
              <a:rPr sz="1350" b="0" i="0" u="none">
                <a:solidFill>
                  <a:srgbClr val="1D4ED8"/>
                </a:solidFill>
                <a:latin typeface="Lato"/>
              </a:rPr>
              <a:t>1B+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and converted app size strings into numerical MB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51435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Calculated Fields: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Built weighted rating scores, estimated revenue (</a:t>
            </a:r>
            <a:r>
              <a:rPr sz="1350" b="0" i="0" u="none">
                <a:solidFill>
                  <a:srgbClr val="1D4ED8"/>
                </a:solidFill>
                <a:latin typeface="Lato"/>
              </a:rPr>
              <a:t>Installs * Price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), and log-scale download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3375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Interactive Parameters: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Enabled real-time filtering by category group, price tier, and minimum review volume thresholds.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333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6612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Tableau Data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7975"/>
            <a:ext cx="5310187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847975"/>
            <a:ext cx="5310187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0875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4ED8"/>
                </a:solidFill>
                <a:latin typeface="Poppins"/>
              </a:rPr>
              <a:t>1. High-Volume Red Oceans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Family &amp; Game categories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represent ~35% of total app listings (~3,800 apps). High saturation means organic discovery requires steep User Acquisition (UA) ad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190875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4ED8"/>
                </a:solidFill>
                <a:latin typeface="Poppins"/>
              </a:rPr>
              <a:t>2. High-Intent Blue Oceans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657600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Finance, Health &amp; Fitness, and Productivity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show exceptional install-per-app ratios. Users demonstrate stronger intent and higher lifetime value (LTV) in utility niches.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Category Opportunity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491037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243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Tableau Parameterized Chart: Free apps generate 90x more install volume than $0.99 apps. Mobile roadmap must prioritize zero-friction install funnels with in-app upgrades.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491037"/>
            <a:ext cx="38100" cy="7810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Downloads Across Price Tiers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Rating Benchmark (4.2+)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Apps rated above 4.2 capture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85%+ of total store downloads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Falling below 4.0 cuts conversion rate by over 50% on search impressions.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Size Sensitivity (&lt; 30MB)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 sizes under 30MB achieve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2.4x higher conversion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in emerging markets where storage and mobile data caps remain constrained.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Monthly Update Rhythm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Apps updated at least monthly show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38% higher 90-day retention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benefiting from active algorithmic boosting in store rankings.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890837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0799" y="2890837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App Success Drivers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765263"/>
              </p:ext>
            </p:extLst>
          </p:nvPr>
        </p:nvGraphicFramePr>
        <p:xfrm>
          <a:off x="571500" y="2274093"/>
          <a:ext cx="11048997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769"/>
                <a:gridCol w="1648122"/>
                <a:gridCol w="1474589"/>
                <a:gridCol w="2873275"/>
                <a:gridCol w="3036242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Category Sector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App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Monetization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Tableau Opportunity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Game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64.3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4.28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In-App Purchases (IAP) + 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Finance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28.1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4.13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Freemium Subscriptions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Health &amp; Fitness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31.5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4.25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Monthly Tiered Plans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Tools &amp; Utilities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18.2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4.04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In-App Ad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Family &amp; Casual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42.7 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4.19 / 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Hybrid Ad &amp; Micro-IAP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2016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88269" y="2759868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36392" y="2759868"/>
            <a:ext cx="1474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0981" y="2759868"/>
            <a:ext cx="2873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84257" y="2759868"/>
            <a:ext cx="30362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2016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88269" y="3274218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36392" y="3274218"/>
            <a:ext cx="1474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0981" y="3274218"/>
            <a:ext cx="2873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84257" y="3274218"/>
            <a:ext cx="30362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2016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88269" y="3788568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6392" y="3788568"/>
            <a:ext cx="1474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0981" y="3788568"/>
            <a:ext cx="2873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84257" y="3788568"/>
            <a:ext cx="30362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2016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88269" y="4302918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36392" y="4302918"/>
            <a:ext cx="1474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0981" y="4302918"/>
            <a:ext cx="2873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84257" y="4302918"/>
            <a:ext cx="30362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2016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88269" y="4817268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36392" y="4817268"/>
            <a:ext cx="1474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0981" y="4817268"/>
            <a:ext cx="2873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84257" y="4817268"/>
            <a:ext cx="30362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20167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88269" y="5331618"/>
            <a:ext cx="164812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36392" y="5331618"/>
            <a:ext cx="1474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10981" y="5331618"/>
            <a:ext cx="2873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84257" y="5331618"/>
            <a:ext cx="30362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757" y="2926556"/>
            <a:ext cx="135255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757" y="3440906"/>
            <a:ext cx="11430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4757" y="3955256"/>
            <a:ext cx="14001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4757" y="4469606"/>
            <a:ext cx="104775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4757" y="4983956"/>
            <a:ext cx="10668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Category Performance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User Review Sentiment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Social Proof 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14475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Review velocity directly dictates algorithm ranking on Google Play search. Unlocking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10,000+ positive reviews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creates a self-sustaining viral acquisition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8974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Deploying smart in-app rating prompts during moments of delight (e.g., level completion) increases positive review conversion by 3x.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09787"/>
            <a:ext cx="2541240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533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09787"/>
            <a:ext cx="2541240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D4ED8"/>
                </a:solidFill>
                <a:latin typeface="Poppins"/>
              </a:rPr>
              <a:t>Q1 - Lightweight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1486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Develop optimized APK under 30MB targeting high-intent Health/Finance niches.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D4ED8"/>
                </a:solidFill>
                <a:latin typeface="Poppins"/>
              </a:rPr>
              <a:t>Q2 - ASO &amp; Review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Implement smart in-app review triggers to cross the 4.2+ rating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D4ED8"/>
                </a:solidFill>
                <a:latin typeface="Poppins"/>
              </a:rPr>
              <a:t>Q3 - Hybrid Monetization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Launch freemium subscription paywall alongside non-intrusive native 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1D4ED8"/>
                </a:solidFill>
                <a:latin typeface="Poppins"/>
              </a:rPr>
              <a:t>Q4 - Tableau Story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Connect live Tableau Server dashboard to track daily LTV, CAC, and conversion.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Product Growth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Lean UX &amp; Binary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Keep binary size lean (&lt;30MB) and streamline initial onboarding to prevent immediate uninstalls.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Tableau Data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Establish real-time KPI alerts for rating drops, review sentiment shifts, and category trend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488656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Freemium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850606"/>
            <a:ext cx="3530649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Maximize top-of-funnel reach with free downloads while driving high LTV via tiered subscriptions.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5056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55056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5056"/>
            <a:ext cx="3530649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Action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607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2</cp:revision>
  <dcterms:created xsi:type="dcterms:W3CDTF">2013-01-27T09:14:16Z</dcterms:created>
  <dcterms:modified xsi:type="dcterms:W3CDTF">2026-09-03T04:33:55Z</dcterms:modified>
  <cp:category/>
</cp:coreProperties>
</file>